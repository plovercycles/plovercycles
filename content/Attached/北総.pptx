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Dingos Stamp" charset="1" panose="03000A02040400000004"/>
      <p:regular r:id="rId16"/>
    </p:embeddedFont>
    <p:embeddedFont>
      <p:font typeface="Noto Sans JP Bold" charset="1" panose="020B0800000000000000"/>
      <p:regular r:id="rId17"/>
    </p:embeddedFont>
    <p:embeddedFont>
      <p:font typeface="Ipaex Mincho" charset="1" panose="020204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365117"/>
            <a:ext cx="18288000" cy="12284015"/>
          </a:xfrm>
          <a:custGeom>
            <a:avLst/>
            <a:gdLst/>
            <a:ahLst/>
            <a:cxnLst/>
            <a:rect r="r" b="b" t="t" l="l"/>
            <a:pathLst>
              <a:path h="12284015" w="18288000">
                <a:moveTo>
                  <a:pt x="0" y="0"/>
                </a:moveTo>
                <a:lnTo>
                  <a:pt x="18288000" y="0"/>
                </a:lnTo>
                <a:lnTo>
                  <a:pt x="18288000" y="12284015"/>
                </a:lnTo>
                <a:lnTo>
                  <a:pt x="0" y="122840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32489" y="6582482"/>
            <a:ext cx="1034876" cy="103487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DAD">
                <a:alpha val="5098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271684" y="7099920"/>
            <a:ext cx="2034632" cy="1707126"/>
            <a:chOff x="0" y="0"/>
            <a:chExt cx="1598017" cy="13407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98017" cy="1340791"/>
            </a:xfrm>
            <a:custGeom>
              <a:avLst/>
              <a:gdLst/>
              <a:ahLst/>
              <a:cxnLst/>
              <a:rect r="r" b="b" t="t" l="l"/>
              <a:pathLst>
                <a:path h="1340791" w="1598017">
                  <a:moveTo>
                    <a:pt x="799008" y="0"/>
                  </a:moveTo>
                  <a:cubicBezTo>
                    <a:pt x="357728" y="0"/>
                    <a:pt x="0" y="300146"/>
                    <a:pt x="0" y="670395"/>
                  </a:cubicBezTo>
                  <a:cubicBezTo>
                    <a:pt x="0" y="1040644"/>
                    <a:pt x="357728" y="1340791"/>
                    <a:pt x="799008" y="1340791"/>
                  </a:cubicBezTo>
                  <a:cubicBezTo>
                    <a:pt x="1240289" y="1340791"/>
                    <a:pt x="1598017" y="1040644"/>
                    <a:pt x="1598017" y="670395"/>
                  </a:cubicBezTo>
                  <a:cubicBezTo>
                    <a:pt x="1598017" y="300146"/>
                    <a:pt x="1240289" y="0"/>
                    <a:pt x="799008" y="0"/>
                  </a:cubicBezTo>
                  <a:close/>
                </a:path>
              </a:pathLst>
            </a:custGeom>
            <a:solidFill>
              <a:srgbClr val="FF5757">
                <a:alpha val="5098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49814" y="78074"/>
              <a:ext cx="1298389" cy="1137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152869" y="5924734"/>
            <a:ext cx="1379619" cy="1034876"/>
            <a:chOff x="0" y="0"/>
            <a:chExt cx="1083564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3564" cy="812800"/>
            </a:xfrm>
            <a:custGeom>
              <a:avLst/>
              <a:gdLst/>
              <a:ahLst/>
              <a:cxnLst/>
              <a:rect r="r" b="b" t="t" l="l"/>
              <a:pathLst>
                <a:path h="812800" w="1083564">
                  <a:moveTo>
                    <a:pt x="541782" y="0"/>
                  </a:moveTo>
                  <a:cubicBezTo>
                    <a:pt x="242564" y="0"/>
                    <a:pt x="0" y="181951"/>
                    <a:pt x="0" y="406400"/>
                  </a:cubicBezTo>
                  <a:cubicBezTo>
                    <a:pt x="0" y="630849"/>
                    <a:pt x="242564" y="812800"/>
                    <a:pt x="541782" y="812800"/>
                  </a:cubicBezTo>
                  <a:cubicBezTo>
                    <a:pt x="841000" y="812800"/>
                    <a:pt x="1083564" y="630849"/>
                    <a:pt x="1083564" y="406400"/>
                  </a:cubicBezTo>
                  <a:cubicBezTo>
                    <a:pt x="1083564" y="181951"/>
                    <a:pt x="841000" y="0"/>
                    <a:pt x="541782" y="0"/>
                  </a:cubicBezTo>
                  <a:close/>
                </a:path>
              </a:pathLst>
            </a:custGeom>
            <a:solidFill>
              <a:srgbClr val="8C52FF">
                <a:alpha val="5098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584" y="28575"/>
              <a:ext cx="88039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306316" y="4626062"/>
            <a:ext cx="2123230" cy="1034876"/>
            <a:chOff x="0" y="0"/>
            <a:chExt cx="1667602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67602" cy="812800"/>
            </a:xfrm>
            <a:custGeom>
              <a:avLst/>
              <a:gdLst/>
              <a:ahLst/>
              <a:cxnLst/>
              <a:rect r="r" b="b" t="t" l="l"/>
              <a:pathLst>
                <a:path h="812800" w="1667602">
                  <a:moveTo>
                    <a:pt x="833801" y="0"/>
                  </a:moveTo>
                  <a:cubicBezTo>
                    <a:pt x="373306" y="0"/>
                    <a:pt x="0" y="181951"/>
                    <a:pt x="0" y="406400"/>
                  </a:cubicBezTo>
                  <a:cubicBezTo>
                    <a:pt x="0" y="630849"/>
                    <a:pt x="373306" y="812800"/>
                    <a:pt x="833801" y="812800"/>
                  </a:cubicBezTo>
                  <a:cubicBezTo>
                    <a:pt x="1294297" y="812800"/>
                    <a:pt x="1667602" y="630849"/>
                    <a:pt x="1667602" y="406400"/>
                  </a:cubicBezTo>
                  <a:cubicBezTo>
                    <a:pt x="1667602" y="181951"/>
                    <a:pt x="1294297" y="0"/>
                    <a:pt x="833801" y="0"/>
                  </a:cubicBezTo>
                  <a:close/>
                </a:path>
              </a:pathLst>
            </a:custGeom>
            <a:solidFill>
              <a:srgbClr val="FFDE59">
                <a:alpha val="5098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56338" y="28575"/>
              <a:ext cx="1354927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700036" y="1468924"/>
            <a:ext cx="2588634" cy="1379619"/>
            <a:chOff x="0" y="0"/>
            <a:chExt cx="2033134" cy="10835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33134" cy="1083564"/>
            </a:xfrm>
            <a:custGeom>
              <a:avLst/>
              <a:gdLst/>
              <a:ahLst/>
              <a:cxnLst/>
              <a:rect r="r" b="b" t="t" l="l"/>
              <a:pathLst>
                <a:path h="1083564" w="2033134">
                  <a:moveTo>
                    <a:pt x="1016567" y="0"/>
                  </a:moveTo>
                  <a:cubicBezTo>
                    <a:pt x="455133" y="0"/>
                    <a:pt x="0" y="242564"/>
                    <a:pt x="0" y="541782"/>
                  </a:cubicBezTo>
                  <a:cubicBezTo>
                    <a:pt x="0" y="841000"/>
                    <a:pt x="455133" y="1083564"/>
                    <a:pt x="1016567" y="1083564"/>
                  </a:cubicBezTo>
                  <a:cubicBezTo>
                    <a:pt x="1578002" y="1083564"/>
                    <a:pt x="2033134" y="841000"/>
                    <a:pt x="2033134" y="541782"/>
                  </a:cubicBezTo>
                  <a:cubicBezTo>
                    <a:pt x="2033134" y="242564"/>
                    <a:pt x="1578002" y="0"/>
                    <a:pt x="1016567" y="0"/>
                  </a:cubicBezTo>
                  <a:close/>
                </a:path>
              </a:pathLst>
            </a:custGeom>
            <a:solidFill>
              <a:srgbClr val="FF914D">
                <a:alpha val="5098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90606" y="53959"/>
              <a:ext cx="1651922" cy="928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71878" y="6582482"/>
            <a:ext cx="3657339" cy="2224564"/>
            <a:chOff x="0" y="0"/>
            <a:chExt cx="2872504" cy="17471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72504" cy="1747191"/>
            </a:xfrm>
            <a:custGeom>
              <a:avLst/>
              <a:gdLst/>
              <a:ahLst/>
              <a:cxnLst/>
              <a:rect r="r" b="b" t="t" l="l"/>
              <a:pathLst>
                <a:path h="1747191" w="2872504">
                  <a:moveTo>
                    <a:pt x="1436252" y="0"/>
                  </a:moveTo>
                  <a:cubicBezTo>
                    <a:pt x="643032" y="0"/>
                    <a:pt x="0" y="391122"/>
                    <a:pt x="0" y="873595"/>
                  </a:cubicBezTo>
                  <a:cubicBezTo>
                    <a:pt x="0" y="1356069"/>
                    <a:pt x="643032" y="1747191"/>
                    <a:pt x="1436252" y="1747191"/>
                  </a:cubicBezTo>
                  <a:cubicBezTo>
                    <a:pt x="2229472" y="1747191"/>
                    <a:pt x="2872504" y="1356069"/>
                    <a:pt x="2872504" y="873595"/>
                  </a:cubicBezTo>
                  <a:cubicBezTo>
                    <a:pt x="2872504" y="391122"/>
                    <a:pt x="2229472" y="0"/>
                    <a:pt x="1436252" y="0"/>
                  </a:cubicBezTo>
                  <a:close/>
                </a:path>
              </a:pathLst>
            </a:custGeom>
            <a:solidFill>
              <a:srgbClr val="C1FF72">
                <a:alpha val="5098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269297" y="116174"/>
              <a:ext cx="2333910" cy="1467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025514" y="1745041"/>
            <a:ext cx="3353276" cy="2681026"/>
            <a:chOff x="0" y="0"/>
            <a:chExt cx="1202091" cy="96110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02091" cy="961102"/>
            </a:xfrm>
            <a:custGeom>
              <a:avLst/>
              <a:gdLst/>
              <a:ahLst/>
              <a:cxnLst/>
              <a:rect r="r" b="b" t="t" l="l"/>
              <a:pathLst>
                <a:path h="961102" w="1202091">
                  <a:moveTo>
                    <a:pt x="601046" y="0"/>
                  </a:moveTo>
                  <a:cubicBezTo>
                    <a:pt x="269097" y="0"/>
                    <a:pt x="0" y="215150"/>
                    <a:pt x="0" y="480551"/>
                  </a:cubicBezTo>
                  <a:cubicBezTo>
                    <a:pt x="0" y="745952"/>
                    <a:pt x="269097" y="961102"/>
                    <a:pt x="601046" y="961102"/>
                  </a:cubicBezTo>
                  <a:cubicBezTo>
                    <a:pt x="932994" y="961102"/>
                    <a:pt x="1202091" y="745952"/>
                    <a:pt x="1202091" y="480551"/>
                  </a:cubicBezTo>
                  <a:cubicBezTo>
                    <a:pt x="1202091" y="215150"/>
                    <a:pt x="932994" y="0"/>
                    <a:pt x="601046" y="0"/>
                  </a:cubicBezTo>
                  <a:close/>
                </a:path>
              </a:pathLst>
            </a:custGeom>
            <a:solidFill>
              <a:srgbClr val="0097B2">
                <a:alpha val="5098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12696" y="42478"/>
              <a:ext cx="976699" cy="828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780170">
            <a:off x="10536245" y="415665"/>
            <a:ext cx="888360" cy="2649558"/>
            <a:chOff x="0" y="0"/>
            <a:chExt cx="318462" cy="94982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8462" cy="949821"/>
            </a:xfrm>
            <a:custGeom>
              <a:avLst/>
              <a:gdLst/>
              <a:ahLst/>
              <a:cxnLst/>
              <a:rect r="r" b="b" t="t" l="l"/>
              <a:pathLst>
                <a:path h="949821" w="318462">
                  <a:moveTo>
                    <a:pt x="159231" y="0"/>
                  </a:moveTo>
                  <a:cubicBezTo>
                    <a:pt x="71290" y="0"/>
                    <a:pt x="0" y="212625"/>
                    <a:pt x="0" y="474910"/>
                  </a:cubicBezTo>
                  <a:cubicBezTo>
                    <a:pt x="0" y="737196"/>
                    <a:pt x="71290" y="949821"/>
                    <a:pt x="159231" y="949821"/>
                  </a:cubicBezTo>
                  <a:cubicBezTo>
                    <a:pt x="247172" y="949821"/>
                    <a:pt x="318462" y="737196"/>
                    <a:pt x="318462" y="474910"/>
                  </a:cubicBezTo>
                  <a:cubicBezTo>
                    <a:pt x="318462" y="212625"/>
                    <a:pt x="247172" y="0"/>
                    <a:pt x="159231" y="0"/>
                  </a:cubicBezTo>
                  <a:close/>
                </a:path>
              </a:pathLst>
            </a:custGeom>
            <a:solidFill>
              <a:srgbClr val="5E17EB">
                <a:alpha val="5098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29856" y="41421"/>
              <a:ext cx="258750" cy="819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3384352">
            <a:off x="8290478" y="2907908"/>
            <a:ext cx="734294" cy="2521327"/>
            <a:chOff x="0" y="0"/>
            <a:chExt cx="263232" cy="9038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63232" cy="903852"/>
            </a:xfrm>
            <a:custGeom>
              <a:avLst/>
              <a:gdLst/>
              <a:ahLst/>
              <a:cxnLst/>
              <a:rect r="r" b="b" t="t" l="l"/>
              <a:pathLst>
                <a:path h="903852" w="263232">
                  <a:moveTo>
                    <a:pt x="131616" y="0"/>
                  </a:moveTo>
                  <a:cubicBezTo>
                    <a:pt x="58926" y="0"/>
                    <a:pt x="0" y="202334"/>
                    <a:pt x="0" y="451926"/>
                  </a:cubicBezTo>
                  <a:cubicBezTo>
                    <a:pt x="0" y="701518"/>
                    <a:pt x="58926" y="903852"/>
                    <a:pt x="131616" y="903852"/>
                  </a:cubicBezTo>
                  <a:cubicBezTo>
                    <a:pt x="204305" y="903852"/>
                    <a:pt x="263232" y="701518"/>
                    <a:pt x="263232" y="451926"/>
                  </a:cubicBezTo>
                  <a:cubicBezTo>
                    <a:pt x="263232" y="202334"/>
                    <a:pt x="204305" y="0"/>
                    <a:pt x="131616" y="0"/>
                  </a:cubicBezTo>
                  <a:close/>
                </a:path>
              </a:pathLst>
            </a:custGeom>
            <a:solidFill>
              <a:srgbClr val="38B6FF">
                <a:alpha val="5098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24678" y="37111"/>
              <a:ext cx="213876" cy="782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408422">
            <a:off x="10209175" y="1493765"/>
            <a:ext cx="564151" cy="2437686"/>
            <a:chOff x="0" y="0"/>
            <a:chExt cx="202238" cy="87386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2238" cy="873868"/>
            </a:xfrm>
            <a:custGeom>
              <a:avLst/>
              <a:gdLst/>
              <a:ahLst/>
              <a:cxnLst/>
              <a:rect r="r" b="b" t="t" l="l"/>
              <a:pathLst>
                <a:path h="873868" w="202238">
                  <a:moveTo>
                    <a:pt x="101119" y="0"/>
                  </a:moveTo>
                  <a:cubicBezTo>
                    <a:pt x="45273" y="0"/>
                    <a:pt x="0" y="195622"/>
                    <a:pt x="0" y="436934"/>
                  </a:cubicBezTo>
                  <a:cubicBezTo>
                    <a:pt x="0" y="678246"/>
                    <a:pt x="45273" y="873868"/>
                    <a:pt x="101119" y="873868"/>
                  </a:cubicBezTo>
                  <a:cubicBezTo>
                    <a:pt x="156966" y="873868"/>
                    <a:pt x="202238" y="678246"/>
                    <a:pt x="202238" y="436934"/>
                  </a:cubicBezTo>
                  <a:cubicBezTo>
                    <a:pt x="202238" y="195622"/>
                    <a:pt x="156966" y="0"/>
                    <a:pt x="101119" y="0"/>
                  </a:cubicBezTo>
                  <a:close/>
                </a:path>
              </a:pathLst>
            </a:custGeom>
            <a:solidFill>
              <a:srgbClr val="38B6FF">
                <a:alpha val="5098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8960" y="34300"/>
              <a:ext cx="164319" cy="757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4041772" y="2598308"/>
            <a:ext cx="1320760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Dingos Stamp"/>
                <a:ea typeface="Dingos Stamp"/>
                <a:cs typeface="Dingos Stamp"/>
                <a:sym typeface="Dingos Stamp"/>
              </a:rPr>
              <a:t>北総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246371" y="7184541"/>
            <a:ext cx="1320760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Dingos Stamp"/>
                <a:ea typeface="Dingos Stamp"/>
                <a:cs typeface="Dingos Stamp"/>
                <a:sym typeface="Dingos Stamp"/>
              </a:rPr>
              <a:t>房総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16040" y="3677399"/>
            <a:ext cx="1638181" cy="748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>
                <a:solidFill>
                  <a:srgbClr val="000000"/>
                </a:solidFill>
                <a:latin typeface="Dingos Stamp"/>
                <a:ea typeface="Dingos Stamp"/>
                <a:cs typeface="Dingos Stamp"/>
                <a:sym typeface="Dingos Stamp"/>
              </a:rPr>
              <a:t>河川敷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011330" y="968226"/>
            <a:ext cx="2489002" cy="8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>
                <a:solidFill>
                  <a:srgbClr val="000000"/>
                </a:solidFill>
                <a:latin typeface="Dingos Stamp"/>
                <a:ea typeface="Dingos Stamp"/>
                <a:cs typeface="Dingos Stamp"/>
                <a:sym typeface="Dingos Stamp"/>
              </a:rPr>
              <a:t>荒川流域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744078" y="1834803"/>
            <a:ext cx="2500551" cy="76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000000"/>
                </a:solidFill>
                <a:latin typeface="Dingos Stamp"/>
                <a:ea typeface="Dingos Stamp"/>
                <a:cs typeface="Dingos Stamp"/>
                <a:sym typeface="Dingos Stamp"/>
              </a:rPr>
              <a:t>飯能/所沢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116346" y="4812838"/>
            <a:ext cx="2503170" cy="632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Dingos Stamp"/>
                <a:ea typeface="Dingos Stamp"/>
                <a:cs typeface="Dingos Stamp"/>
                <a:sym typeface="Dingos Stamp"/>
              </a:rPr>
              <a:t>町田/相模原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364127" y="6740828"/>
            <a:ext cx="1371600" cy="632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Dingos Stamp"/>
                <a:ea typeface="Dingos Stamp"/>
                <a:cs typeface="Dingos Stamp"/>
                <a:sym typeface="Dingos Stamp"/>
              </a:rPr>
              <a:t>裏湘南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391916" y="6083080"/>
            <a:ext cx="914400" cy="632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Dingos Stamp"/>
                <a:ea typeface="Dingos Stamp"/>
                <a:cs typeface="Dingos Stamp"/>
                <a:sym typeface="Dingos Stamp"/>
              </a:rPr>
              <a:t>丹沢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890373" y="7582643"/>
            <a:ext cx="2642116" cy="655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Dingos Stamp"/>
                <a:ea typeface="Dingos Stamp"/>
                <a:cs typeface="Dingos Stamp"/>
                <a:sym typeface="Dingos Stamp"/>
              </a:rPr>
              <a:t>小田原/箱根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76627" y="-1365117"/>
            <a:ext cx="6611373" cy="12284015"/>
          </a:xfrm>
          <a:custGeom>
            <a:avLst/>
            <a:gdLst/>
            <a:ahLst/>
            <a:cxnLst/>
            <a:rect r="r" b="b" t="t" l="l"/>
            <a:pathLst>
              <a:path h="12284015" w="6611373">
                <a:moveTo>
                  <a:pt x="0" y="0"/>
                </a:moveTo>
                <a:lnTo>
                  <a:pt x="6611373" y="0"/>
                </a:lnTo>
                <a:lnTo>
                  <a:pt x="6611373" y="12284015"/>
                </a:lnTo>
                <a:lnTo>
                  <a:pt x="0" y="122840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6614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025514" y="1745041"/>
            <a:ext cx="3353276" cy="2681026"/>
            <a:chOff x="0" y="0"/>
            <a:chExt cx="1202091" cy="9611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02091" cy="961102"/>
            </a:xfrm>
            <a:custGeom>
              <a:avLst/>
              <a:gdLst/>
              <a:ahLst/>
              <a:cxnLst/>
              <a:rect r="r" b="b" t="t" l="l"/>
              <a:pathLst>
                <a:path h="961102" w="1202091">
                  <a:moveTo>
                    <a:pt x="601046" y="0"/>
                  </a:moveTo>
                  <a:cubicBezTo>
                    <a:pt x="269097" y="0"/>
                    <a:pt x="0" y="215150"/>
                    <a:pt x="0" y="480551"/>
                  </a:cubicBezTo>
                  <a:cubicBezTo>
                    <a:pt x="0" y="745952"/>
                    <a:pt x="269097" y="961102"/>
                    <a:pt x="601046" y="961102"/>
                  </a:cubicBezTo>
                  <a:cubicBezTo>
                    <a:pt x="932994" y="961102"/>
                    <a:pt x="1202091" y="745952"/>
                    <a:pt x="1202091" y="480551"/>
                  </a:cubicBezTo>
                  <a:cubicBezTo>
                    <a:pt x="1202091" y="215150"/>
                    <a:pt x="932994" y="0"/>
                    <a:pt x="601046" y="0"/>
                  </a:cubicBezTo>
                  <a:close/>
                </a:path>
              </a:pathLst>
            </a:custGeom>
            <a:solidFill>
              <a:srgbClr val="0097B2">
                <a:alpha val="5098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12696" y="42478"/>
              <a:ext cx="976699" cy="828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81415" y="6110238"/>
            <a:ext cx="6944359" cy="3906202"/>
          </a:xfrm>
          <a:custGeom>
            <a:avLst/>
            <a:gdLst/>
            <a:ahLst/>
            <a:cxnLst/>
            <a:rect r="r" b="b" t="t" l="l"/>
            <a:pathLst>
              <a:path h="3906202" w="6944359">
                <a:moveTo>
                  <a:pt x="0" y="0"/>
                </a:moveTo>
                <a:lnTo>
                  <a:pt x="6944360" y="0"/>
                </a:lnTo>
                <a:lnTo>
                  <a:pt x="6944360" y="3906202"/>
                </a:lnTo>
                <a:lnTo>
                  <a:pt x="0" y="3906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041772" y="2598308"/>
            <a:ext cx="1320760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Dingos Stamp"/>
                <a:ea typeface="Dingos Stamp"/>
                <a:cs typeface="Dingos Stamp"/>
                <a:sym typeface="Dingos Stamp"/>
              </a:rPr>
              <a:t>北総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78497"/>
            <a:ext cx="23368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北総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4298" y="2188934"/>
            <a:ext cx="7924205" cy="366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農道、古道系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砂利少な目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獲得標高少な目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人の営みを感じるグラベル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98513" y="-1291986"/>
            <a:ext cx="6489487" cy="12284015"/>
          </a:xfrm>
          <a:custGeom>
            <a:avLst/>
            <a:gdLst/>
            <a:ahLst/>
            <a:cxnLst/>
            <a:rect r="r" b="b" t="t" l="l"/>
            <a:pathLst>
              <a:path h="12284015" w="6489487">
                <a:moveTo>
                  <a:pt x="0" y="0"/>
                </a:moveTo>
                <a:lnTo>
                  <a:pt x="6489487" y="0"/>
                </a:lnTo>
                <a:lnTo>
                  <a:pt x="6489487" y="12284015"/>
                </a:lnTo>
                <a:lnTo>
                  <a:pt x="0" y="122840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5514" t="0" r="-2629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678275" y="6655613"/>
            <a:ext cx="3657339" cy="2224564"/>
            <a:chOff x="0" y="0"/>
            <a:chExt cx="2872504" cy="17471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72504" cy="1747191"/>
            </a:xfrm>
            <a:custGeom>
              <a:avLst/>
              <a:gdLst/>
              <a:ahLst/>
              <a:cxnLst/>
              <a:rect r="r" b="b" t="t" l="l"/>
              <a:pathLst>
                <a:path h="1747191" w="2872504">
                  <a:moveTo>
                    <a:pt x="1436252" y="0"/>
                  </a:moveTo>
                  <a:cubicBezTo>
                    <a:pt x="643032" y="0"/>
                    <a:pt x="0" y="391122"/>
                    <a:pt x="0" y="873595"/>
                  </a:cubicBezTo>
                  <a:cubicBezTo>
                    <a:pt x="0" y="1356069"/>
                    <a:pt x="643032" y="1747191"/>
                    <a:pt x="1436252" y="1747191"/>
                  </a:cubicBezTo>
                  <a:cubicBezTo>
                    <a:pt x="2229472" y="1747191"/>
                    <a:pt x="2872504" y="1356069"/>
                    <a:pt x="2872504" y="873595"/>
                  </a:cubicBezTo>
                  <a:cubicBezTo>
                    <a:pt x="2872504" y="391122"/>
                    <a:pt x="2229472" y="0"/>
                    <a:pt x="1436252" y="0"/>
                  </a:cubicBezTo>
                  <a:close/>
                </a:path>
              </a:pathLst>
            </a:custGeom>
            <a:solidFill>
              <a:srgbClr val="C1FF72">
                <a:alpha val="5098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269297" y="116174"/>
              <a:ext cx="2333910" cy="1467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965533" y="3477134"/>
            <a:ext cx="3575789" cy="6356958"/>
          </a:xfrm>
          <a:custGeom>
            <a:avLst/>
            <a:gdLst/>
            <a:ahLst/>
            <a:cxnLst/>
            <a:rect r="r" b="b" t="t" l="l"/>
            <a:pathLst>
              <a:path h="6356958" w="3575789">
                <a:moveTo>
                  <a:pt x="0" y="0"/>
                </a:moveTo>
                <a:lnTo>
                  <a:pt x="3575789" y="0"/>
                </a:lnTo>
                <a:lnTo>
                  <a:pt x="357578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78497"/>
            <a:ext cx="23368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房総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4298" y="2188934"/>
            <a:ext cx="6654059" cy="551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古道系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ガレ多め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獲得標高多め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手堀り隧道など特徴ある道多し。トータルでの難易度高め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952768" y="7257672"/>
            <a:ext cx="1320760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Dingos Stamp"/>
                <a:ea typeface="Dingos Stamp"/>
                <a:cs typeface="Dingos Stamp"/>
                <a:sym typeface="Dingos Stamp"/>
              </a:rPr>
              <a:t>房総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82484" y="-1413871"/>
            <a:ext cx="3905516" cy="12284015"/>
          </a:xfrm>
          <a:custGeom>
            <a:avLst/>
            <a:gdLst/>
            <a:ahLst/>
            <a:cxnLst/>
            <a:rect r="r" b="b" t="t" l="l"/>
            <a:pathLst>
              <a:path h="12284015" w="3905516">
                <a:moveTo>
                  <a:pt x="0" y="0"/>
                </a:moveTo>
                <a:lnTo>
                  <a:pt x="3905516" y="0"/>
                </a:lnTo>
                <a:lnTo>
                  <a:pt x="3905516" y="12284015"/>
                </a:lnTo>
                <a:lnTo>
                  <a:pt x="0" y="122840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9694" t="0" r="-13856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780170">
            <a:off x="15947960" y="366910"/>
            <a:ext cx="888360" cy="2649558"/>
            <a:chOff x="0" y="0"/>
            <a:chExt cx="318462" cy="9498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8462" cy="949821"/>
            </a:xfrm>
            <a:custGeom>
              <a:avLst/>
              <a:gdLst/>
              <a:ahLst/>
              <a:cxnLst/>
              <a:rect r="r" b="b" t="t" l="l"/>
              <a:pathLst>
                <a:path h="949821" w="318462">
                  <a:moveTo>
                    <a:pt x="159231" y="0"/>
                  </a:moveTo>
                  <a:cubicBezTo>
                    <a:pt x="71290" y="0"/>
                    <a:pt x="0" y="212625"/>
                    <a:pt x="0" y="474910"/>
                  </a:cubicBezTo>
                  <a:cubicBezTo>
                    <a:pt x="0" y="737196"/>
                    <a:pt x="71290" y="949821"/>
                    <a:pt x="159231" y="949821"/>
                  </a:cubicBezTo>
                  <a:cubicBezTo>
                    <a:pt x="247172" y="949821"/>
                    <a:pt x="318462" y="737196"/>
                    <a:pt x="318462" y="474910"/>
                  </a:cubicBezTo>
                  <a:cubicBezTo>
                    <a:pt x="318462" y="212625"/>
                    <a:pt x="247172" y="0"/>
                    <a:pt x="159231" y="0"/>
                  </a:cubicBezTo>
                  <a:close/>
                </a:path>
              </a:pathLst>
            </a:custGeom>
            <a:solidFill>
              <a:srgbClr val="5E17EB">
                <a:alpha val="5098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29856" y="41421"/>
              <a:ext cx="258750" cy="819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43300" y="6939467"/>
            <a:ext cx="5578067" cy="3137663"/>
          </a:xfrm>
          <a:custGeom>
            <a:avLst/>
            <a:gdLst/>
            <a:ahLst/>
            <a:cxnLst/>
            <a:rect r="r" b="b" t="t" l="l"/>
            <a:pathLst>
              <a:path h="3137663" w="5578067">
                <a:moveTo>
                  <a:pt x="0" y="0"/>
                </a:moveTo>
                <a:lnTo>
                  <a:pt x="5578067" y="0"/>
                </a:lnTo>
                <a:lnTo>
                  <a:pt x="5578067" y="3137663"/>
                </a:lnTo>
                <a:lnTo>
                  <a:pt x="0" y="3137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423045" y="919472"/>
            <a:ext cx="2489002" cy="8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>
                <a:solidFill>
                  <a:srgbClr val="000000"/>
                </a:solidFill>
                <a:latin typeface="Dingos Stamp"/>
                <a:ea typeface="Dingos Stamp"/>
                <a:cs typeface="Dingos Stamp"/>
                <a:sym typeface="Dingos Stamp"/>
              </a:rPr>
              <a:t>荒川流域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78497"/>
            <a:ext cx="467356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荒川流域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4298" y="2188934"/>
            <a:ext cx="12065774" cy="459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農道系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路面はスムーズ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獲得標高少な目(風強め)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日本最大の河川敷を誇り、フラットで見晴らしが良いグラベル。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34809" y="-1487003"/>
            <a:ext cx="5953191" cy="12284015"/>
          </a:xfrm>
          <a:custGeom>
            <a:avLst/>
            <a:gdLst/>
            <a:ahLst/>
            <a:cxnLst/>
            <a:rect r="r" b="b" t="t" l="l"/>
            <a:pathLst>
              <a:path h="12284015" w="5953191">
                <a:moveTo>
                  <a:pt x="0" y="0"/>
                </a:moveTo>
                <a:lnTo>
                  <a:pt x="5953191" y="0"/>
                </a:lnTo>
                <a:lnTo>
                  <a:pt x="5953191" y="12284015"/>
                </a:lnTo>
                <a:lnTo>
                  <a:pt x="0" y="122840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8921" t="0" r="-9827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3384352">
            <a:off x="14140980" y="2786023"/>
            <a:ext cx="734294" cy="2521327"/>
            <a:chOff x="0" y="0"/>
            <a:chExt cx="263232" cy="9038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3232" cy="903852"/>
            </a:xfrm>
            <a:custGeom>
              <a:avLst/>
              <a:gdLst/>
              <a:ahLst/>
              <a:cxnLst/>
              <a:rect r="r" b="b" t="t" l="l"/>
              <a:pathLst>
                <a:path h="903852" w="263232">
                  <a:moveTo>
                    <a:pt x="131616" y="0"/>
                  </a:moveTo>
                  <a:cubicBezTo>
                    <a:pt x="58926" y="0"/>
                    <a:pt x="0" y="202334"/>
                    <a:pt x="0" y="451926"/>
                  </a:cubicBezTo>
                  <a:cubicBezTo>
                    <a:pt x="0" y="701518"/>
                    <a:pt x="58926" y="903852"/>
                    <a:pt x="131616" y="903852"/>
                  </a:cubicBezTo>
                  <a:cubicBezTo>
                    <a:pt x="204305" y="903852"/>
                    <a:pt x="263232" y="701518"/>
                    <a:pt x="263232" y="451926"/>
                  </a:cubicBezTo>
                  <a:cubicBezTo>
                    <a:pt x="263232" y="202334"/>
                    <a:pt x="204305" y="0"/>
                    <a:pt x="131616" y="0"/>
                  </a:cubicBezTo>
                  <a:close/>
                </a:path>
              </a:pathLst>
            </a:custGeom>
            <a:solidFill>
              <a:srgbClr val="38B6FF">
                <a:alpha val="5098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24678" y="37111"/>
              <a:ext cx="213876" cy="782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408422">
            <a:off x="16059678" y="1371880"/>
            <a:ext cx="564151" cy="2437686"/>
            <a:chOff x="0" y="0"/>
            <a:chExt cx="202238" cy="8738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238" cy="873868"/>
            </a:xfrm>
            <a:custGeom>
              <a:avLst/>
              <a:gdLst/>
              <a:ahLst/>
              <a:cxnLst/>
              <a:rect r="r" b="b" t="t" l="l"/>
              <a:pathLst>
                <a:path h="873868" w="202238">
                  <a:moveTo>
                    <a:pt x="101119" y="0"/>
                  </a:moveTo>
                  <a:cubicBezTo>
                    <a:pt x="45273" y="0"/>
                    <a:pt x="0" y="195622"/>
                    <a:pt x="0" y="436934"/>
                  </a:cubicBezTo>
                  <a:cubicBezTo>
                    <a:pt x="0" y="678246"/>
                    <a:pt x="45273" y="873868"/>
                    <a:pt x="101119" y="873868"/>
                  </a:cubicBezTo>
                  <a:cubicBezTo>
                    <a:pt x="156966" y="873868"/>
                    <a:pt x="202238" y="678246"/>
                    <a:pt x="202238" y="436934"/>
                  </a:cubicBezTo>
                  <a:cubicBezTo>
                    <a:pt x="202238" y="195622"/>
                    <a:pt x="156966" y="0"/>
                    <a:pt x="101119" y="0"/>
                  </a:cubicBezTo>
                  <a:close/>
                </a:path>
              </a:pathLst>
            </a:custGeom>
            <a:solidFill>
              <a:srgbClr val="38B6FF">
                <a:alpha val="5098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8960" y="34300"/>
              <a:ext cx="164319" cy="757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773545" y="6578512"/>
            <a:ext cx="6176427" cy="3474240"/>
          </a:xfrm>
          <a:custGeom>
            <a:avLst/>
            <a:gdLst/>
            <a:ahLst/>
            <a:cxnLst/>
            <a:rect r="r" b="b" t="t" l="l"/>
            <a:pathLst>
              <a:path h="3474240" w="6176427">
                <a:moveTo>
                  <a:pt x="0" y="0"/>
                </a:moveTo>
                <a:lnTo>
                  <a:pt x="6176427" y="0"/>
                </a:lnTo>
                <a:lnTo>
                  <a:pt x="6176427" y="3474241"/>
                </a:lnTo>
                <a:lnTo>
                  <a:pt x="0" y="34742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966542" y="3555514"/>
            <a:ext cx="1638181" cy="748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>
                <a:solidFill>
                  <a:srgbClr val="000000"/>
                </a:solidFill>
                <a:latin typeface="Dingos Stamp"/>
                <a:ea typeface="Dingos Stamp"/>
                <a:cs typeface="Dingos Stamp"/>
                <a:sym typeface="Dingos Stamp"/>
              </a:rPr>
              <a:t>河川敷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78497"/>
            <a:ext cx="350520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河川敷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4298" y="2188934"/>
            <a:ext cx="10895673" cy="459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サイクリングロード系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多摩川、江戸川Etc.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路面はスムーズ。獲得標高少な目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グラベルバイクを買ったら真っ先に走る場所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61138" y="-1267609"/>
            <a:ext cx="5026862" cy="12284015"/>
          </a:xfrm>
          <a:custGeom>
            <a:avLst/>
            <a:gdLst/>
            <a:ahLst/>
            <a:cxnLst/>
            <a:rect r="r" b="b" t="t" l="l"/>
            <a:pathLst>
              <a:path h="12284015" w="5026862">
                <a:moveTo>
                  <a:pt x="0" y="0"/>
                </a:moveTo>
                <a:lnTo>
                  <a:pt x="5026862" y="0"/>
                </a:lnTo>
                <a:lnTo>
                  <a:pt x="5026862" y="12284015"/>
                </a:lnTo>
                <a:lnTo>
                  <a:pt x="0" y="122840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9412" t="0" r="-16439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963871" y="1566432"/>
            <a:ext cx="2588634" cy="1379619"/>
            <a:chOff x="0" y="0"/>
            <a:chExt cx="2033134" cy="10835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33134" cy="1083564"/>
            </a:xfrm>
            <a:custGeom>
              <a:avLst/>
              <a:gdLst/>
              <a:ahLst/>
              <a:cxnLst/>
              <a:rect r="r" b="b" t="t" l="l"/>
              <a:pathLst>
                <a:path h="1083564" w="2033134">
                  <a:moveTo>
                    <a:pt x="1016567" y="0"/>
                  </a:moveTo>
                  <a:cubicBezTo>
                    <a:pt x="455133" y="0"/>
                    <a:pt x="0" y="242564"/>
                    <a:pt x="0" y="541782"/>
                  </a:cubicBezTo>
                  <a:cubicBezTo>
                    <a:pt x="0" y="841000"/>
                    <a:pt x="455133" y="1083564"/>
                    <a:pt x="1016567" y="1083564"/>
                  </a:cubicBezTo>
                  <a:cubicBezTo>
                    <a:pt x="1578002" y="1083564"/>
                    <a:pt x="2033134" y="841000"/>
                    <a:pt x="2033134" y="541782"/>
                  </a:cubicBezTo>
                  <a:cubicBezTo>
                    <a:pt x="2033134" y="242564"/>
                    <a:pt x="1578002" y="0"/>
                    <a:pt x="1016567" y="0"/>
                  </a:cubicBezTo>
                  <a:close/>
                </a:path>
              </a:pathLst>
            </a:custGeom>
            <a:solidFill>
              <a:srgbClr val="FF914D">
                <a:alpha val="5098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90606" y="53959"/>
              <a:ext cx="1651922" cy="928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704926" y="6480425"/>
            <a:ext cx="6090782" cy="3426065"/>
          </a:xfrm>
          <a:custGeom>
            <a:avLst/>
            <a:gdLst/>
            <a:ahLst/>
            <a:cxnLst/>
            <a:rect r="r" b="b" t="t" l="l"/>
            <a:pathLst>
              <a:path h="3426065" w="6090782">
                <a:moveTo>
                  <a:pt x="0" y="0"/>
                </a:moveTo>
                <a:lnTo>
                  <a:pt x="6090782" y="0"/>
                </a:lnTo>
                <a:lnTo>
                  <a:pt x="6090782" y="3426065"/>
                </a:lnTo>
                <a:lnTo>
                  <a:pt x="0" y="34260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007912" y="1932311"/>
            <a:ext cx="2500551" cy="76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000000"/>
                </a:solidFill>
                <a:latin typeface="Dingos Stamp"/>
                <a:ea typeface="Dingos Stamp"/>
                <a:cs typeface="Dingos Stamp"/>
                <a:sym typeface="Dingos Stamp"/>
              </a:rPr>
              <a:t>飯能/所沢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78497"/>
            <a:ext cx="512683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所沢/飯能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4298" y="2188934"/>
            <a:ext cx="10895673" cy="459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農道系、一部トレイル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獲得標高は並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ガレ少な目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狭山湖中心に全体としては走りやすい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83024" y="-1438248"/>
            <a:ext cx="4904976" cy="12284015"/>
          </a:xfrm>
          <a:custGeom>
            <a:avLst/>
            <a:gdLst/>
            <a:ahLst/>
            <a:cxnLst/>
            <a:rect r="r" b="b" t="t" l="l"/>
            <a:pathLst>
              <a:path h="12284015" w="4904976">
                <a:moveTo>
                  <a:pt x="0" y="0"/>
                </a:moveTo>
                <a:lnTo>
                  <a:pt x="4904976" y="0"/>
                </a:lnTo>
                <a:lnTo>
                  <a:pt x="4904976" y="12284015"/>
                </a:lnTo>
                <a:lnTo>
                  <a:pt x="0" y="122840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3433" t="0" r="-1794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106446" y="4552931"/>
            <a:ext cx="2123230" cy="1034876"/>
            <a:chOff x="0" y="0"/>
            <a:chExt cx="1667602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67602" cy="812800"/>
            </a:xfrm>
            <a:custGeom>
              <a:avLst/>
              <a:gdLst/>
              <a:ahLst/>
              <a:cxnLst/>
              <a:rect r="r" b="b" t="t" l="l"/>
              <a:pathLst>
                <a:path h="812800" w="1667602">
                  <a:moveTo>
                    <a:pt x="833801" y="0"/>
                  </a:moveTo>
                  <a:cubicBezTo>
                    <a:pt x="373306" y="0"/>
                    <a:pt x="0" y="181951"/>
                    <a:pt x="0" y="406400"/>
                  </a:cubicBezTo>
                  <a:cubicBezTo>
                    <a:pt x="0" y="630849"/>
                    <a:pt x="373306" y="812800"/>
                    <a:pt x="833801" y="812800"/>
                  </a:cubicBezTo>
                  <a:cubicBezTo>
                    <a:pt x="1294297" y="812800"/>
                    <a:pt x="1667602" y="630849"/>
                    <a:pt x="1667602" y="406400"/>
                  </a:cubicBezTo>
                  <a:cubicBezTo>
                    <a:pt x="1667602" y="181951"/>
                    <a:pt x="1294297" y="0"/>
                    <a:pt x="833801" y="0"/>
                  </a:cubicBezTo>
                  <a:close/>
                </a:path>
              </a:pathLst>
            </a:custGeom>
            <a:solidFill>
              <a:srgbClr val="FFDE59">
                <a:alpha val="5098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56338" y="28575"/>
              <a:ext cx="1354927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309809" y="3179384"/>
            <a:ext cx="3907406" cy="6946500"/>
          </a:xfrm>
          <a:custGeom>
            <a:avLst/>
            <a:gdLst/>
            <a:ahLst/>
            <a:cxnLst/>
            <a:rect r="r" b="b" t="t" l="l"/>
            <a:pathLst>
              <a:path h="6946500" w="3907406">
                <a:moveTo>
                  <a:pt x="0" y="0"/>
                </a:moveTo>
                <a:lnTo>
                  <a:pt x="3907406" y="0"/>
                </a:lnTo>
                <a:lnTo>
                  <a:pt x="3907406" y="6946500"/>
                </a:lnTo>
                <a:lnTo>
                  <a:pt x="0" y="6946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916476" y="4739707"/>
            <a:ext cx="2503170" cy="632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Dingos Stamp"/>
                <a:ea typeface="Dingos Stamp"/>
                <a:cs typeface="Dingos Stamp"/>
                <a:sym typeface="Dingos Stamp"/>
              </a:rPr>
              <a:t>町田/相模原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78497"/>
            <a:ext cx="629531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町田/相模原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4298" y="2188934"/>
            <a:ext cx="8089702" cy="7364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自然保護地域、一部トレイル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獲得標高少なめながら斜度きつめ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路面はダートで荒れ気味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いわゆる裏尾根幹を含む。メジャーだが難易度は高め。市街地近くカフェ等有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92451" y="-1243232"/>
            <a:ext cx="4295549" cy="12284015"/>
          </a:xfrm>
          <a:custGeom>
            <a:avLst/>
            <a:gdLst/>
            <a:ahLst/>
            <a:cxnLst/>
            <a:rect r="r" b="b" t="t" l="l"/>
            <a:pathLst>
              <a:path h="12284015" w="4295549">
                <a:moveTo>
                  <a:pt x="0" y="0"/>
                </a:moveTo>
                <a:lnTo>
                  <a:pt x="4295549" y="0"/>
                </a:lnTo>
                <a:lnTo>
                  <a:pt x="4295549" y="12284015"/>
                </a:lnTo>
                <a:lnTo>
                  <a:pt x="0" y="122840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3069" t="0" r="-23267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527096" y="6704367"/>
            <a:ext cx="1034876" cy="103487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DAD">
                <a:alpha val="5098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227633" y="6948438"/>
            <a:ext cx="5518781" cy="3104314"/>
          </a:xfrm>
          <a:custGeom>
            <a:avLst/>
            <a:gdLst/>
            <a:ahLst/>
            <a:cxnLst/>
            <a:rect r="r" b="b" t="t" l="l"/>
            <a:pathLst>
              <a:path h="3104314" w="5518781">
                <a:moveTo>
                  <a:pt x="0" y="0"/>
                </a:moveTo>
                <a:lnTo>
                  <a:pt x="5518782" y="0"/>
                </a:lnTo>
                <a:lnTo>
                  <a:pt x="5518782" y="3104315"/>
                </a:lnTo>
                <a:lnTo>
                  <a:pt x="0" y="31043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358734" y="6862713"/>
            <a:ext cx="1371600" cy="632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Dingos Stamp"/>
                <a:ea typeface="Dingos Stamp"/>
                <a:cs typeface="Dingos Stamp"/>
                <a:sym typeface="Dingos Stamp"/>
              </a:rPr>
              <a:t>裏湘南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78497"/>
            <a:ext cx="350520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裏湘南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7463" y="2222998"/>
            <a:ext cx="11965659" cy="459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農道系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渋沢、曽我丘陵+α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ダートはスムーズ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獲得標高多め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北総と似ているが登りはパンチがある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39253" y="-1468541"/>
            <a:ext cx="5148747" cy="12284015"/>
          </a:xfrm>
          <a:custGeom>
            <a:avLst/>
            <a:gdLst/>
            <a:ahLst/>
            <a:cxnLst/>
            <a:rect r="r" b="b" t="t" l="l"/>
            <a:pathLst>
              <a:path h="12284015" w="5148747">
                <a:moveTo>
                  <a:pt x="0" y="0"/>
                </a:moveTo>
                <a:lnTo>
                  <a:pt x="5148747" y="0"/>
                </a:lnTo>
                <a:lnTo>
                  <a:pt x="5148747" y="12284015"/>
                </a:lnTo>
                <a:lnTo>
                  <a:pt x="0" y="122840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766" t="0" r="-20642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781282" y="5821310"/>
            <a:ext cx="1379619" cy="1034876"/>
            <a:chOff x="0" y="0"/>
            <a:chExt cx="1083564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3564" cy="812800"/>
            </a:xfrm>
            <a:custGeom>
              <a:avLst/>
              <a:gdLst/>
              <a:ahLst/>
              <a:cxnLst/>
              <a:rect r="r" b="b" t="t" l="l"/>
              <a:pathLst>
                <a:path h="812800" w="1083564">
                  <a:moveTo>
                    <a:pt x="541782" y="0"/>
                  </a:moveTo>
                  <a:cubicBezTo>
                    <a:pt x="242564" y="0"/>
                    <a:pt x="0" y="181951"/>
                    <a:pt x="0" y="406400"/>
                  </a:cubicBezTo>
                  <a:cubicBezTo>
                    <a:pt x="0" y="630849"/>
                    <a:pt x="242564" y="812800"/>
                    <a:pt x="541782" y="812800"/>
                  </a:cubicBezTo>
                  <a:cubicBezTo>
                    <a:pt x="841000" y="812800"/>
                    <a:pt x="1083564" y="630849"/>
                    <a:pt x="1083564" y="406400"/>
                  </a:cubicBezTo>
                  <a:cubicBezTo>
                    <a:pt x="1083564" y="181951"/>
                    <a:pt x="841000" y="0"/>
                    <a:pt x="541782" y="0"/>
                  </a:cubicBezTo>
                  <a:close/>
                </a:path>
              </a:pathLst>
            </a:custGeom>
            <a:solidFill>
              <a:srgbClr val="8C52FF">
                <a:alpha val="5098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584" y="28575"/>
              <a:ext cx="88039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17463" y="2222998"/>
            <a:ext cx="7207437" cy="551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林道系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路面はやや荒れ気味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獲得標高多め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ヤビツ周辺などサイクリストに親しみがある。ゲート多め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144000" y="3930042"/>
            <a:ext cx="3575789" cy="6356958"/>
          </a:xfrm>
          <a:custGeom>
            <a:avLst/>
            <a:gdLst/>
            <a:ahLst/>
            <a:cxnLst/>
            <a:rect r="r" b="b" t="t" l="l"/>
            <a:pathLst>
              <a:path h="6356958" w="3575789">
                <a:moveTo>
                  <a:pt x="0" y="0"/>
                </a:moveTo>
                <a:lnTo>
                  <a:pt x="3575789" y="0"/>
                </a:lnTo>
                <a:lnTo>
                  <a:pt x="357578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020328" y="5979656"/>
            <a:ext cx="914400" cy="632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Dingos Stamp"/>
                <a:ea typeface="Dingos Stamp"/>
                <a:cs typeface="Dingos Stamp"/>
                <a:sym typeface="Dingos Stamp"/>
              </a:rPr>
              <a:t>丹沢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78497"/>
            <a:ext cx="23368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丹沢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365117"/>
            <a:ext cx="6566581" cy="12284015"/>
          </a:xfrm>
          <a:custGeom>
            <a:avLst/>
            <a:gdLst/>
            <a:ahLst/>
            <a:cxnLst/>
            <a:rect r="r" b="b" t="t" l="l"/>
            <a:pathLst>
              <a:path h="12284015" w="6566581">
                <a:moveTo>
                  <a:pt x="0" y="0"/>
                </a:moveTo>
                <a:lnTo>
                  <a:pt x="6566581" y="0"/>
                </a:lnTo>
                <a:lnTo>
                  <a:pt x="6566581" y="12284015"/>
                </a:lnTo>
                <a:lnTo>
                  <a:pt x="0" y="122840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7850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271684" y="7099920"/>
            <a:ext cx="2034632" cy="1707126"/>
            <a:chOff x="0" y="0"/>
            <a:chExt cx="1598017" cy="13407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98017" cy="1340791"/>
            </a:xfrm>
            <a:custGeom>
              <a:avLst/>
              <a:gdLst/>
              <a:ahLst/>
              <a:cxnLst/>
              <a:rect r="r" b="b" t="t" l="l"/>
              <a:pathLst>
                <a:path h="1340791" w="1598017">
                  <a:moveTo>
                    <a:pt x="799008" y="0"/>
                  </a:moveTo>
                  <a:cubicBezTo>
                    <a:pt x="357728" y="0"/>
                    <a:pt x="0" y="300146"/>
                    <a:pt x="0" y="670395"/>
                  </a:cubicBezTo>
                  <a:cubicBezTo>
                    <a:pt x="0" y="1040644"/>
                    <a:pt x="357728" y="1340791"/>
                    <a:pt x="799008" y="1340791"/>
                  </a:cubicBezTo>
                  <a:cubicBezTo>
                    <a:pt x="1240289" y="1340791"/>
                    <a:pt x="1598017" y="1040644"/>
                    <a:pt x="1598017" y="670395"/>
                  </a:cubicBezTo>
                  <a:cubicBezTo>
                    <a:pt x="1598017" y="300146"/>
                    <a:pt x="1240289" y="0"/>
                    <a:pt x="799008" y="0"/>
                  </a:cubicBezTo>
                  <a:close/>
                </a:path>
              </a:pathLst>
            </a:custGeom>
            <a:solidFill>
              <a:srgbClr val="FF5757">
                <a:alpha val="5098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49814" y="78074"/>
              <a:ext cx="1298389" cy="1137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471089" y="6780843"/>
            <a:ext cx="5650629" cy="3178479"/>
          </a:xfrm>
          <a:custGeom>
            <a:avLst/>
            <a:gdLst/>
            <a:ahLst/>
            <a:cxnLst/>
            <a:rect r="r" b="b" t="t" l="l"/>
            <a:pathLst>
              <a:path h="3178479" w="5650629">
                <a:moveTo>
                  <a:pt x="0" y="0"/>
                </a:moveTo>
                <a:lnTo>
                  <a:pt x="5650630" y="0"/>
                </a:lnTo>
                <a:lnTo>
                  <a:pt x="5650630" y="3178479"/>
                </a:lnTo>
                <a:lnTo>
                  <a:pt x="0" y="3178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90373" y="7582643"/>
            <a:ext cx="2642116" cy="655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Dingos Stamp"/>
                <a:ea typeface="Dingos Stamp"/>
                <a:cs typeface="Dingos Stamp"/>
                <a:sym typeface="Dingos Stamp"/>
              </a:rPr>
              <a:t>小田原/箱根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20460" y="144022"/>
            <a:ext cx="629531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小田原/箱根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09223" y="2188523"/>
            <a:ext cx="10483245" cy="459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林道系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路面は荒れ気味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獲得標高多め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Ipaex Mincho"/>
                <a:ea typeface="Ipaex Mincho"/>
                <a:cs typeface="Ipaex Mincho"/>
                <a:sym typeface="Ipaex Mincho"/>
              </a:rPr>
              <a:t>ゲート多め。海が見えるルートが多いため景観良好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DAGRYy8oJ4o</dc:identifier>
  <dcterms:modified xsi:type="dcterms:W3CDTF">2011-08-01T06:04:30Z</dcterms:modified>
  <cp:revision>1</cp:revision>
  <dc:title>北総</dc:title>
</cp:coreProperties>
</file>